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70" r:id="rId9"/>
    <p:sldId id="260" r:id="rId10"/>
    <p:sldId id="271" r:id="rId11"/>
    <p:sldId id="272" r:id="rId12"/>
    <p:sldId id="273" r:id="rId13"/>
    <p:sldId id="274" r:id="rId14"/>
    <p:sldId id="265" r:id="rId15"/>
    <p:sldId id="264" r:id="rId16"/>
    <p:sldId id="266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wJFx4wQkKR8A1eenAcah7OmYy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0616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0042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8282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6292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1959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8456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748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3" descr="A picture containing sky, outdoor, real estate, architecture&#10;&#10;Description automatically generated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56674" y="250189"/>
            <a:ext cx="11678651" cy="635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5813" y="500378"/>
            <a:ext cx="5644907" cy="1386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9001" y="466512"/>
            <a:ext cx="2125133" cy="522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ctrTitle"/>
          </p:nvPr>
        </p:nvSpPr>
        <p:spPr>
          <a:xfrm>
            <a:off x="373626" y="870634"/>
            <a:ext cx="1166105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Reverse Engineering Based Intelligent Cyber Threat Detection and Analysis Platform</a:t>
            </a:r>
            <a:endParaRPr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Google Shape;87;p22"/>
          <p:cNvSpPr/>
          <p:nvPr/>
        </p:nvSpPr>
        <p:spPr>
          <a:xfrm>
            <a:off x="6725926" y="4492366"/>
            <a:ext cx="5023252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baseline="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Supervisor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i="0" u="none" strike="noStrike" dirty="0" err="1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Ms.Sogy</a:t>
            </a:r>
            <a:r>
              <a:rPr lang="en-US" sz="2200" i="0" u="none" strike="noStrik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</a:t>
            </a:r>
            <a:r>
              <a:rPr lang="en-US" sz="2200" i="0" u="none" strike="noStrike" dirty="0" err="1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</a:t>
            </a:r>
            <a:r>
              <a:rPr lang="en-US" sz="2200" dirty="0" err="1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.Idicula</a:t>
            </a: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, </a:t>
            </a:r>
            <a:r>
              <a:rPr lang="en-US" sz="2200" dirty="0" err="1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M.Tech</a:t>
            </a:r>
            <a:endParaRPr lang="en-US" sz="2200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Assistant Professor,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Department of Information Technology,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dirty="0" err="1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Karpagam</a:t>
            </a: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College of Engineering,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Coimbatore - 641032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200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2200" i="0" u="none" strike="noStrike" baseline="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88" name="Google Shape;88;p22"/>
          <p:cNvSpPr/>
          <p:nvPr/>
        </p:nvSpPr>
        <p:spPr>
          <a:xfrm>
            <a:off x="925264" y="4404852"/>
            <a:ext cx="5023252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b="1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Team Details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717823F153  - Srinath 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717823F154  - Sunil </a:t>
            </a:r>
            <a:r>
              <a:rPr lang="en-US" sz="2200" dirty="0" err="1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Amarthya</a:t>
            </a: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i="0" u="none" strike="noStrike" cap="none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717823F160  - </a:t>
            </a: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Vishnu Neelan 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717823F163  - </a:t>
            </a:r>
            <a:r>
              <a:rPr lang="en-US" sz="2200" dirty="0" err="1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Yokeshwaran</a:t>
            </a:r>
            <a:r>
              <a:rPr lang="en-US" sz="2200" dirty="0">
                <a:solidFill>
                  <a:schemeClr val="dk1"/>
                </a:solidFill>
                <a:latin typeface="Times New Roman" pitchFamily="18" charset="0"/>
                <a:ea typeface="Calibri"/>
                <a:cs typeface="Times New Roman" pitchFamily="18" charset="0"/>
                <a:sym typeface="Calibri"/>
              </a:rPr>
              <a:t> G</a:t>
            </a:r>
            <a:endParaRPr lang="en-US" sz="2200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299815" y="15148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dirty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Abstract</a:t>
            </a:r>
            <a:endParaRPr sz="4000" dirty="0"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744196" y="162907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Proposes an Reverse Engineering - Based Cyber Threat Intelligence Platform to analyze suspicious APK files, URLs, emails, and system logs through a centralized security dashboard.</a:t>
            </a:r>
          </a:p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Utilizes reverse engineering and static malware analysis to identify malicious permissions, embedded URLs, API calls, and other indicators of compromise (IOCs).</a:t>
            </a:r>
          </a:p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Integrates Threat Intelligence and a Risk Correlation Engine to combine findings from multiple security modules and accurately assess the severity of cyber threats.</a:t>
            </a:r>
          </a:p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Provides real-time threat detection, security alerts, and risk visualization, enabling organizations to improve incident response and strengthen their overall cybersecurity posture.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100" dirty="0"/>
          </a:p>
        </p:txBody>
      </p:sp>
      <p:sp>
        <p:nvSpPr>
          <p:cNvPr id="95" name="Google Shape;9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6" name="Google Shape;96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9CFA9A-64D4-D22C-FE41-CC4BB235B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18" name="Google Shape;94;p2">
            <a:extLst>
              <a:ext uri="{FF2B5EF4-FFF2-40B4-BE49-F238E27FC236}">
                <a16:creationId xmlns:a16="http://schemas.microsoft.com/office/drawing/2014/main" id="{AF7ADF85-90EB-33C6-8246-A9F845921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4196" y="163923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Develop an integrated Cyber Threat Intelligence Platform for centralized detection and analysis of cyber threats.</a:t>
            </a:r>
          </a:p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Perform reverse engineering and static malware analysis on Android APKs to identify malicious permissions, APIs, embedded URLs, and suspicious code.</a:t>
            </a:r>
          </a:p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Detects malicious URLS and phishing attacks using domain </a:t>
            </a:r>
            <a:r>
              <a:rPr lang="en-US" sz="1600" dirty="0" err="1"/>
              <a:t>reputation,URL</a:t>
            </a:r>
            <a:r>
              <a:rPr lang="en-US" sz="1600" dirty="0"/>
              <a:t> analysis ,and threat intelligence techniques.</a:t>
            </a:r>
          </a:p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Correlate findings from multiple security modules to generate real-time risk scores, alerts, and actionable insights through a centralized dashboard.</a:t>
            </a:r>
            <a:endParaRPr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555196" y="4265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Literature Survey 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indent="0" algn="just">
              <a:lnSpc>
                <a:spcPct val="150000"/>
              </a:lnSpc>
              <a:buNone/>
            </a:pPr>
            <a:endParaRPr lang="en-GB" sz="2200" b="0" i="0" dirty="0">
              <a:effectLst/>
              <a:latin typeface="+mj-lt"/>
            </a:endParaRPr>
          </a:p>
        </p:txBody>
      </p:sp>
      <p:sp>
        <p:nvSpPr>
          <p:cNvPr id="113" name="Google Shape;113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4" name="Google Shape;114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F52EE7-70C8-9382-AC10-5A05627DE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846715"/>
              </p:ext>
            </p:extLst>
          </p:nvPr>
        </p:nvGraphicFramePr>
        <p:xfrm>
          <a:off x="487680" y="1825622"/>
          <a:ext cx="11247121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437">
                  <a:extLst>
                    <a:ext uri="{9D8B030D-6E8A-4147-A177-3AD203B41FA5}">
                      <a16:colId xmlns:a16="http://schemas.microsoft.com/office/drawing/2014/main" val="248714685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140596824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3175892078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2741125331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654738553"/>
                    </a:ext>
                  </a:extLst>
                </a:gridCol>
              </a:tblGrid>
              <a:tr h="1450446">
                <a:tc>
                  <a:txBody>
                    <a:bodyPr/>
                    <a:lstStyle/>
                    <a:p>
                      <a:r>
                        <a:rPr lang="en-IN" b="1"/>
                        <a:t>Title of the Project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Author Name and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Problem Defined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Algorithm / Method Used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Outcome of the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434691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US" b="1"/>
                        <a:t>Malware Detection: A Framework for Reverse Engineered Android Applications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Al-Hadhrami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Android applications can hide malicious code that is difficult to detect before installation.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Reverse Engineering, Static APK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Detects malicious APKs using manifest, permissions, and decompiled code.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654744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US" b="1"/>
                        <a:t>Android Malware Detection Using Static Analysis Techniques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Sharma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Malware applications bypass traditional antivirus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Static Analysis, Permission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Improves malware detection without executing the application.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8990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D11C-EEE8-F6A0-7E16-68872BB4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90DCA-3C6E-611B-F213-BD25B45E8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D38C3-7CB8-CE31-5F58-4C96DC1D4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63D66B-F3BC-BEDB-3A6F-7AADE8EC6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662696"/>
              </p:ext>
            </p:extLst>
          </p:nvPr>
        </p:nvGraphicFramePr>
        <p:xfrm>
          <a:off x="487680" y="1825622"/>
          <a:ext cx="11247121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437">
                  <a:extLst>
                    <a:ext uri="{9D8B030D-6E8A-4147-A177-3AD203B41FA5}">
                      <a16:colId xmlns:a16="http://schemas.microsoft.com/office/drawing/2014/main" val="248714685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140596824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3175892078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2741125331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654738553"/>
                    </a:ext>
                  </a:extLst>
                </a:gridCol>
              </a:tblGrid>
              <a:tr h="1450446">
                <a:tc>
                  <a:txBody>
                    <a:bodyPr/>
                    <a:lstStyle/>
                    <a:p>
                      <a:r>
                        <a:rPr lang="en-IN" b="1" dirty="0"/>
                        <a:t>Title of the Project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Author Name and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Problem Defined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Algorithm Used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Outcome of the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434691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US" b="1"/>
                        <a:t>Malicious URL Detection Using Machine Learning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Kumar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Users unknowingly access phishing and malware-hosting websites.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URL Feature Analysis,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Accurately identifies malicious URLs before user access.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654744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US" b="1"/>
                        <a:t>Phishing Website Detection Using URL and Content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Chen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Fake websites steal user credentials through brand impersonation.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URL Similarity Analysis, HTML Content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Detects phishing websites with high accuracy and reduces cyber fraud.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899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19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3DD3-2FDF-457D-9FC7-03ABEFB0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29CEA-80DE-F45D-92BD-13A09C354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3CBA8-F6E6-24E7-6334-9E81CF2AC2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78904D-D4DA-AC64-9406-8C8E48CB5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5190"/>
              </p:ext>
            </p:extLst>
          </p:nvPr>
        </p:nvGraphicFramePr>
        <p:xfrm>
          <a:off x="487680" y="1825622"/>
          <a:ext cx="11247121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437">
                  <a:extLst>
                    <a:ext uri="{9D8B030D-6E8A-4147-A177-3AD203B41FA5}">
                      <a16:colId xmlns:a16="http://schemas.microsoft.com/office/drawing/2014/main" val="248714685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140596824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3175892078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2741125331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654738553"/>
                    </a:ext>
                  </a:extLst>
                </a:gridCol>
              </a:tblGrid>
              <a:tr h="1450446">
                <a:tc>
                  <a:txBody>
                    <a:bodyPr/>
                    <a:lstStyle/>
                    <a:p>
                      <a:r>
                        <a:rPr lang="en-IN" b="1"/>
                        <a:t>Title of the Project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Author Name and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Problem Defined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Algorithm Used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Outcome of the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434691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US" b="1"/>
                        <a:t>Cyber Threat Intelligence: Challenges and Opportunities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Husari et al.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Organizations struggle to identify and correlate emerging cyber threats.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Threat Intelligence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Enhances threat detection using Indicators of Compromise (IOCs).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654744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US" b="1"/>
                        <a:t>Security Information and Event Management (SIEM): A Survey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Ahmad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Security logs from multiple devices are difficult to analyze manually.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Event Correlation, Log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Enables centralized monitoring and faster incident response.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899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695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81F9-25CE-BD8A-248E-C4FB264D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3DFA5-CF8E-79BC-8F73-A11DCA311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EB8EF-8CF1-0633-B129-9164004094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E8AABE-1CE9-9594-11FB-0EC8EC764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184681"/>
              </p:ext>
            </p:extLst>
          </p:nvPr>
        </p:nvGraphicFramePr>
        <p:xfrm>
          <a:off x="487680" y="1825622"/>
          <a:ext cx="11247121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437">
                  <a:extLst>
                    <a:ext uri="{9D8B030D-6E8A-4147-A177-3AD203B41FA5}">
                      <a16:colId xmlns:a16="http://schemas.microsoft.com/office/drawing/2014/main" val="248714685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140596824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3175892078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2741125331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654738553"/>
                    </a:ext>
                  </a:extLst>
                </a:gridCol>
              </a:tblGrid>
              <a:tr h="1450446">
                <a:tc>
                  <a:txBody>
                    <a:bodyPr/>
                    <a:lstStyle/>
                    <a:p>
                      <a:r>
                        <a:rPr lang="en-IN" b="1"/>
                        <a:t>Title of the Project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Author Name and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Problem Defined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Algorithm Used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Outcome of the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434691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IN" b="1"/>
                        <a:t>Endpoint Detection and Response: Current Trends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Singh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Endpoint devices are vulnerable to ransomware and malware attacks.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Endpoint Monitoring, Behavioral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Detects suspicious processes and abnormal system activities.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654744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IN" b="1"/>
                        <a:t>Static Analysis Techniques for Android Malware Detection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Ali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Dynamic malware analysis requires high execution time and resources.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Static Code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Performs faster malware detection using source code inspection.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899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642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C16A-52AE-8C19-1A90-D4476524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826CA-E7E1-B24A-C74C-EEA1BCCDD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C5ED8-2C65-CABD-CBD6-C8448A884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F27C85-4BAB-C8AF-E21F-A999C3CFE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255922"/>
              </p:ext>
            </p:extLst>
          </p:nvPr>
        </p:nvGraphicFramePr>
        <p:xfrm>
          <a:off x="487680" y="1825622"/>
          <a:ext cx="11247121" cy="435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437">
                  <a:extLst>
                    <a:ext uri="{9D8B030D-6E8A-4147-A177-3AD203B41FA5}">
                      <a16:colId xmlns:a16="http://schemas.microsoft.com/office/drawing/2014/main" val="248714685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1405968244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3175892078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2741125331"/>
                    </a:ext>
                  </a:extLst>
                </a:gridCol>
                <a:gridCol w="2235921">
                  <a:extLst>
                    <a:ext uri="{9D8B030D-6E8A-4147-A177-3AD203B41FA5}">
                      <a16:colId xmlns:a16="http://schemas.microsoft.com/office/drawing/2014/main" val="654738553"/>
                    </a:ext>
                  </a:extLst>
                </a:gridCol>
              </a:tblGrid>
              <a:tr h="1450446">
                <a:tc>
                  <a:txBody>
                    <a:bodyPr/>
                    <a:lstStyle/>
                    <a:p>
                      <a:r>
                        <a:rPr lang="en-IN" b="1"/>
                        <a:t>Title of the Project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Author Name and 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Problem Defined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Algorithm Used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Outcome of the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434691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US" b="1"/>
                        <a:t>Threat Intelligence Platform for Advanced Cybersecurity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Zhang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Lack of a centralized repository for known cyber threats and attack indicators.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Threat Intelligence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Improves cyber threat detection using malicious domains, IPs, and malware signatures.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654744"/>
                  </a:ext>
                </a:extLst>
              </a:tr>
              <a:tr h="1450446">
                <a:tc>
                  <a:txBody>
                    <a:bodyPr/>
                    <a:lstStyle/>
                    <a:p>
                      <a:r>
                        <a:rPr lang="en-US" b="1"/>
                        <a:t>Android Reverse Engineering for Malware Investigation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Mohammed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Malware hides malicious behavior using code obfuscation techniques.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APKTool, JADX, Reverse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Extracts hidden code and detects suspicious APIs, permissions, and embedded URLs.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3899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093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838200" y="1356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21" name="Google Shape;12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2" name="Google Shape;12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4" name="Google Shape;94;p2">
            <a:extLst>
              <a:ext uri="{FF2B5EF4-FFF2-40B4-BE49-F238E27FC236}">
                <a16:creationId xmlns:a16="http://schemas.microsoft.com/office/drawing/2014/main" id="{0DC901B2-F6A3-E62F-C497-9415B3B7B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44196" y="162907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Organizations face an increasing number of cyber threats, including malware, phishing attacks, malicious URLs, and unauthorized applications.</a:t>
            </a:r>
          </a:p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Existing security solutions operate independently, making it difficult to correlate security events and identify complex attacks.</a:t>
            </a:r>
          </a:p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Manual investigation of suspicious files and network activities is time-consuming, error-prone, and delays incident response.</a:t>
            </a:r>
          </a:p>
          <a:p>
            <a:pPr marL="514350" indent="-285750">
              <a:lnSpc>
                <a:spcPct val="150000"/>
              </a:lnSpc>
              <a:buSzPts val="1100"/>
            </a:pPr>
            <a:r>
              <a:rPr lang="en-US" sz="1600" dirty="0"/>
              <a:t>There is a need for a centralized cybersecurity intelligence platform that performs automated analysis, correlates threats, and provides real-time risk assessment and security alerts.</a:t>
            </a:r>
            <a:endParaRPr lang="en-IN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F4C04-BD51-3F3F-D0CF-6946D71D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Specification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7BD66-8EA4-77C5-89E7-675BF43EB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560" y="1371600"/>
            <a:ext cx="10937240" cy="4805363"/>
          </a:xfrm>
        </p:spPr>
        <p:txBody>
          <a:bodyPr>
            <a:normAutofit/>
          </a:bodyPr>
          <a:lstStyle/>
          <a:p>
            <a:r>
              <a:rPr lang="en-US" sz="2100" b="1" dirty="0"/>
              <a:t>Software specification :</a:t>
            </a:r>
          </a:p>
          <a:p>
            <a:pPr marL="50800" indent="0">
              <a:buNone/>
            </a:pPr>
            <a:r>
              <a:rPr lang="en-US" sz="2100" b="1" dirty="0"/>
              <a:t>     Application Required :                                            Database </a:t>
            </a:r>
          </a:p>
          <a:p>
            <a:pPr marL="50800" indent="0">
              <a:buNone/>
            </a:pPr>
            <a:r>
              <a:rPr lang="en-US" sz="2100" b="1" dirty="0"/>
              <a:t>         </a:t>
            </a:r>
            <a:r>
              <a:rPr lang="en-US" sz="2100" dirty="0"/>
              <a:t>1.Visual Studio Code                                                1.PostgreSQL</a:t>
            </a:r>
          </a:p>
          <a:p>
            <a:pPr marL="50800" indent="0">
              <a:buNone/>
            </a:pPr>
            <a:r>
              <a:rPr lang="en-US" sz="2100" b="1" dirty="0"/>
              <a:t>     Backend Technologies                                           Reverse Engineering Tools</a:t>
            </a:r>
          </a:p>
          <a:p>
            <a:pPr marL="50800" indent="0">
              <a:buNone/>
            </a:pPr>
            <a:r>
              <a:rPr lang="en-US" sz="2100" b="1" dirty="0"/>
              <a:t>          </a:t>
            </a:r>
            <a:r>
              <a:rPr lang="en-US" sz="2100" dirty="0"/>
              <a:t>1.Java 17                                                                 1.JADX</a:t>
            </a:r>
          </a:p>
          <a:p>
            <a:pPr marL="50800" indent="0">
              <a:buNone/>
            </a:pPr>
            <a:r>
              <a:rPr lang="en-US" sz="2100" dirty="0"/>
              <a:t>          2.Spring Boot                                                           2.Apktool</a:t>
            </a:r>
          </a:p>
          <a:p>
            <a:pPr marL="50800" indent="0">
              <a:buNone/>
            </a:pPr>
            <a:r>
              <a:rPr lang="en-US" sz="2100" dirty="0"/>
              <a:t>          3.Spring Security                                                  </a:t>
            </a:r>
            <a:r>
              <a:rPr lang="en-US" sz="2100" b="1" dirty="0"/>
              <a:t>Development Tools</a:t>
            </a:r>
            <a:r>
              <a:rPr lang="en-US" sz="2100" dirty="0"/>
              <a:t> </a:t>
            </a:r>
          </a:p>
          <a:p>
            <a:pPr marL="50800" indent="0">
              <a:buNone/>
            </a:pPr>
            <a:r>
              <a:rPr lang="en-US" sz="2100" dirty="0"/>
              <a:t>          4.Maven                                                                   1.Git</a:t>
            </a:r>
          </a:p>
          <a:p>
            <a:pPr marL="50800" indent="0">
              <a:buNone/>
            </a:pPr>
            <a:r>
              <a:rPr lang="en-US" sz="2100" dirty="0"/>
              <a:t>     </a:t>
            </a:r>
            <a:r>
              <a:rPr lang="en-US" sz="2100" b="1" dirty="0"/>
              <a:t> Frontend Technologies                                             </a:t>
            </a:r>
            <a:r>
              <a:rPr lang="en-US" sz="2100" dirty="0"/>
              <a:t>2.Postman</a:t>
            </a:r>
            <a:r>
              <a:rPr lang="en-US" sz="2100" b="1" dirty="0"/>
              <a:t> </a:t>
            </a:r>
          </a:p>
          <a:p>
            <a:pPr marL="50800" indent="0">
              <a:buNone/>
            </a:pPr>
            <a:r>
              <a:rPr lang="en-US" sz="2100" b="1" dirty="0"/>
              <a:t>          </a:t>
            </a:r>
            <a:r>
              <a:rPr lang="en-US" sz="2100" dirty="0"/>
              <a:t>1.React.js                                                                 3.Maven</a:t>
            </a:r>
          </a:p>
          <a:p>
            <a:pPr marL="50800" indent="0">
              <a:buNone/>
            </a:pPr>
            <a:r>
              <a:rPr lang="en-US" sz="2100" dirty="0"/>
              <a:t>          2.Tailwind CSS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BC30F-5A9D-EBE3-6920-D5144283A1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90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2789-F018-76A8-9DA1-0071735F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Specification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4F88C-D993-D9EF-7A0E-21BBCB0F1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280" y="1351280"/>
            <a:ext cx="11018520" cy="4825683"/>
          </a:xfrm>
        </p:spPr>
        <p:txBody>
          <a:bodyPr>
            <a:normAutofit/>
          </a:bodyPr>
          <a:lstStyle/>
          <a:p>
            <a:r>
              <a:rPr lang="en-US" sz="2100" b="1" dirty="0"/>
              <a:t>Hardware specification :</a:t>
            </a:r>
          </a:p>
          <a:p>
            <a:pPr marL="50800" indent="0">
              <a:buNone/>
            </a:pPr>
            <a:r>
              <a:rPr lang="en-US" sz="2100" b="1" dirty="0"/>
              <a:t>           CPU</a:t>
            </a:r>
          </a:p>
          <a:p>
            <a:pPr marL="50800" indent="0">
              <a:buNone/>
            </a:pPr>
            <a:r>
              <a:rPr lang="en-US" sz="2100" b="1" dirty="0"/>
              <a:t>              </a:t>
            </a:r>
            <a:r>
              <a:rPr lang="en-US" sz="2100" dirty="0"/>
              <a:t>AMD Ryzen 5 (Minimum)</a:t>
            </a:r>
          </a:p>
          <a:p>
            <a:pPr marL="50800" indent="0">
              <a:buNone/>
            </a:pPr>
            <a:r>
              <a:rPr lang="en-US" sz="2100" dirty="0"/>
              <a:t>              AMD Ryzen 7 (Recommended)</a:t>
            </a:r>
          </a:p>
          <a:p>
            <a:pPr marL="50800" indent="0">
              <a:buNone/>
            </a:pPr>
            <a:r>
              <a:rPr lang="en-US" sz="2100" dirty="0"/>
              <a:t>           </a:t>
            </a:r>
            <a:r>
              <a:rPr lang="en-US" sz="2100" b="1" dirty="0"/>
              <a:t>RAM</a:t>
            </a:r>
          </a:p>
          <a:p>
            <a:pPr marL="50800" indent="0">
              <a:buNone/>
            </a:pPr>
            <a:r>
              <a:rPr lang="en-US" sz="2100" b="1" dirty="0"/>
              <a:t>               </a:t>
            </a:r>
            <a:r>
              <a:rPr lang="en-US" sz="2100" dirty="0"/>
              <a:t>8GB  DDR4 (Minimum)</a:t>
            </a:r>
          </a:p>
          <a:p>
            <a:pPr marL="50800" indent="0">
              <a:buNone/>
            </a:pPr>
            <a:r>
              <a:rPr lang="en-US" sz="2100" dirty="0"/>
              <a:t>              16GB DDR4 (Recommended)</a:t>
            </a:r>
          </a:p>
          <a:p>
            <a:pPr marL="50800" indent="0">
              <a:buNone/>
            </a:pPr>
            <a:r>
              <a:rPr lang="en-US" sz="2100" dirty="0"/>
              <a:t>           </a:t>
            </a:r>
            <a:r>
              <a:rPr lang="en-US" sz="2100" b="1" dirty="0"/>
              <a:t>STORAGE</a:t>
            </a:r>
          </a:p>
          <a:p>
            <a:pPr marL="50800" indent="0">
              <a:buNone/>
            </a:pPr>
            <a:r>
              <a:rPr lang="en-US" sz="2100" b="1" dirty="0"/>
              <a:t>               </a:t>
            </a:r>
            <a:r>
              <a:rPr lang="en-US" sz="2100" dirty="0"/>
              <a:t>20GB Free SSD Space (Minimum)</a:t>
            </a:r>
          </a:p>
          <a:p>
            <a:pPr marL="50800" indent="0">
              <a:buNone/>
            </a:pPr>
            <a:r>
              <a:rPr lang="en-US" sz="2100" dirty="0"/>
              <a:t>               50GB Free SSD Space  (Recommended) </a:t>
            </a:r>
            <a:endParaRPr lang="en-IN" sz="2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3C5D5-EDA8-2E45-0B03-0E5A239AFD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68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E03D-6212-453E-33D2-F7616112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Details(Modules)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1EA6E-BBFE-918B-590B-037CA28F8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000" y="1391920"/>
            <a:ext cx="10845800" cy="4785043"/>
          </a:xfrm>
        </p:spPr>
        <p:txBody>
          <a:bodyPr>
            <a:normAutofit/>
          </a:bodyPr>
          <a:lstStyle/>
          <a:p>
            <a:pPr algn="just"/>
            <a:r>
              <a:rPr lang="en-US" sz="1900" b="1" dirty="0"/>
              <a:t>Module 1 : User Authentication: </a:t>
            </a:r>
            <a:r>
              <a:rPr lang="en-US" sz="1900" dirty="0"/>
              <a:t>Provides secure user registration and login with role-based access control ,ensuring only authorized users can access the cybersecurity platform.</a:t>
            </a:r>
          </a:p>
          <a:p>
            <a:pPr algn="just"/>
            <a:r>
              <a:rPr lang="en-US" sz="1900" b="1" dirty="0"/>
              <a:t>Module 2 : APK Reverse Engineering Module (JADX &amp; </a:t>
            </a:r>
            <a:r>
              <a:rPr lang="en-US" sz="1900" b="1" dirty="0" err="1"/>
              <a:t>Apktool</a:t>
            </a:r>
            <a:r>
              <a:rPr lang="en-US" sz="1900" b="1" dirty="0"/>
              <a:t>): </a:t>
            </a:r>
            <a:r>
              <a:rPr lang="en-US" sz="1900" dirty="0"/>
              <a:t>Extracts Android application components such as permissions ,API calls, activities , services, URLs, Strings, and manifest information for security analysis.</a:t>
            </a:r>
          </a:p>
          <a:p>
            <a:pPr algn="just"/>
            <a:r>
              <a:rPr lang="en-US" sz="1900" b="1" dirty="0"/>
              <a:t>Module 3 : Static Malware Analysis module: </a:t>
            </a:r>
            <a:r>
              <a:rPr lang="en-US" sz="1900" dirty="0"/>
              <a:t>Analyzes the extracted features to identify suspicious permissions ,malicious API calls , code patterns, assigns an initial malware risk score.</a:t>
            </a:r>
          </a:p>
          <a:p>
            <a:pPr algn="just"/>
            <a:r>
              <a:rPr lang="en-US" sz="1900" b="1" dirty="0"/>
              <a:t>Module 4 : Threat Intelligence &amp; Risk Correlation Module : </a:t>
            </a:r>
            <a:r>
              <a:rPr lang="en-US" sz="1900" dirty="0"/>
              <a:t>Compare extracted indicators of Compromise(IOCs) with the threat intelligence database , performs URL analysis , and generates the final security risk score.</a:t>
            </a:r>
          </a:p>
          <a:p>
            <a:pPr algn="just"/>
            <a:r>
              <a:rPr lang="en-US" sz="1900" b="1" dirty="0"/>
              <a:t>Module 5 : Dashboard &amp; Report Generation Module : </a:t>
            </a:r>
            <a:r>
              <a:rPr lang="en-US" sz="1900" dirty="0"/>
              <a:t>Displays malware analysis results , threat statistics ,security alerts and generates downloadable PDF reports for further Investigation.</a:t>
            </a:r>
            <a:endParaRPr lang="en-US" sz="19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2E4CF-0E6B-436F-9BDE-94AA4887D4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86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45CE-4EC4-AB3A-0A3E-78278A65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Implementation Details(Architecture)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4390B-253E-244E-E997-209FAA1AF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DC75-B36A-C411-2FC6-8F309E44AD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5128AE-35BA-C178-1F01-2FEB563530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0045"/>
          <a:stretch/>
        </p:blipFill>
        <p:spPr>
          <a:xfrm>
            <a:off x="664090" y="1315217"/>
            <a:ext cx="10863819" cy="537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621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490A-1BE7-EAC9-E5F5-DE3E5F3A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Journal Base Paper selection</a:t>
            </a:r>
            <a:br>
              <a:rPr lang="en-IN" b="0" i="0" dirty="0">
                <a:effectLst/>
                <a:latin typeface="Times New Roman" pitchFamily="18" charset="0"/>
                <a:cs typeface="Times New Roman" pitchFamily="18" charset="0"/>
              </a:rPr>
            </a:b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13DE1-0BF3-519D-7242-029FDC2F3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3F095-6AD4-31E6-B440-FBE60F8581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685D60-4DEB-32E7-A4D6-0D8C9924A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246969"/>
              </p:ext>
            </p:extLst>
          </p:nvPr>
        </p:nvGraphicFramePr>
        <p:xfrm>
          <a:off x="218440" y="1357689"/>
          <a:ext cx="11567160" cy="4998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200">
                  <a:extLst>
                    <a:ext uri="{9D8B030D-6E8A-4147-A177-3AD203B41FA5}">
                      <a16:colId xmlns:a16="http://schemas.microsoft.com/office/drawing/2014/main" val="1729406997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3694459366"/>
                    </a:ext>
                  </a:extLst>
                </a:gridCol>
                <a:gridCol w="2580640">
                  <a:extLst>
                    <a:ext uri="{9D8B030D-6E8A-4147-A177-3AD203B41FA5}">
                      <a16:colId xmlns:a16="http://schemas.microsoft.com/office/drawing/2014/main" val="1031326989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r>
                        <a:rPr lang="en-IN" b="1"/>
                        <a:t>Particular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Details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820717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Paper Title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Malware Detection: A Framework for Reverse Engineered Android Applications Through Machine Learning Algorithms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455563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Authors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Aseel Al-Hadhrami, Ali Dehghantanha, Kim-Kwang Raymond Choo,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864077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Journal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569901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Publisher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IEEE Xplore Digital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714907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Year of Publication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358643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DOI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10.1109/ACCESS.2022.3149053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70178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Research Domain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Reverse Engineering, Android Malware Analysis, Cybersecurity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149512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Methodology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Reverse Engineering, Static Malware Analysis,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551288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Reason for Selection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Provides a strong framework for Android APK reverse engineering and static malware detection, which aligns with the proposed project objectives.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142028"/>
                  </a:ext>
                </a:extLst>
              </a:tr>
              <a:tr h="407843">
                <a:tc>
                  <a:txBody>
                    <a:bodyPr/>
                    <a:lstStyle/>
                    <a:p>
                      <a:r>
                        <a:rPr lang="en-IN" b="1"/>
                        <a:t>Project Extension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Threat Intelligence, URL Scanner, Phishing Detection, Risk Correlation Engine, Endpoint Monitoring, Security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76015"/>
                  </a:ext>
                </a:extLst>
              </a:tr>
            </a:tbl>
          </a:graphicData>
        </a:graphic>
      </p:graphicFrame>
      <p:pic>
        <p:nvPicPr>
          <p:cNvPr id="7" name="Picture 6" descr="A close-up of a document">
            <a:extLst>
              <a:ext uri="{FF2B5EF4-FFF2-40B4-BE49-F238E27FC236}">
                <a16:creationId xmlns:a16="http://schemas.microsoft.com/office/drawing/2014/main" id="{15F69CD8-BAEB-35E1-CF53-674C42AD0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1" y="1353155"/>
            <a:ext cx="2915920" cy="499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09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265632" y="19420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Base References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7" name="Google Shape;1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8" name="Google Shape;1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310904E0-0277-0586-08C2-70319EFB7C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9760" y="1511436"/>
            <a:ext cx="10932160" cy="582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1836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133013" algn="l"/>
              </a:tabLst>
            </a:pPr>
            <a:r>
              <a:rPr lang="en-US" sz="1600" dirty="0"/>
              <a:t>A Lightweight and Multi-Stage Approach for Android Malware Detection Using Non-Invasive Machine Learning Techniques," </a:t>
            </a:r>
            <a:r>
              <a:rPr lang="en-US" sz="1600" i="1" dirty="0"/>
              <a:t>IEEE Access</a:t>
            </a:r>
            <a:r>
              <a:rPr lang="en-US" sz="1600" dirty="0"/>
              <a:t>, 2023.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10133013" algn="l"/>
              </a:tabLst>
            </a:pPr>
            <a:endParaRPr lang="en-US" sz="1600" dirty="0"/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133013" algn="l"/>
              </a:tabLst>
            </a:pPr>
            <a:r>
              <a:rPr lang="en-US" sz="1600" dirty="0"/>
              <a:t>Performance-Oriented and Sustainability-Oriented Design of an Effective Android Malware Detector," </a:t>
            </a:r>
            <a:r>
              <a:rPr lang="en-US" sz="1600" i="1" dirty="0"/>
              <a:t>IEEE Access</a:t>
            </a:r>
            <a:r>
              <a:rPr lang="en-US" sz="1600" dirty="0"/>
              <a:t>, 2024.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10133013" algn="l"/>
              </a:tabLst>
            </a:pPr>
            <a:endParaRPr lang="en-US" sz="1600" dirty="0"/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133013" algn="l"/>
              </a:tabLst>
            </a:pPr>
            <a:r>
              <a:rPr lang="en-IN" sz="1600" dirty="0" err="1"/>
              <a:t>DeepImageDroid</a:t>
            </a:r>
            <a:r>
              <a:rPr lang="en-IN" sz="1600" dirty="0"/>
              <a:t>: A Hybrid Framework Leveraging Visual Transformers and CNNs for Robust Android Malware Detection," </a:t>
            </a:r>
            <a:r>
              <a:rPr lang="en-IN" sz="1600" i="1" dirty="0"/>
              <a:t>IEEE Access</a:t>
            </a:r>
            <a:r>
              <a:rPr lang="en-IN" sz="1600" dirty="0"/>
              <a:t>, 2024.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10133013" algn="l"/>
              </a:tabLst>
            </a:pPr>
            <a:endParaRPr lang="en-US" sz="1600" dirty="0"/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133013" algn="l"/>
              </a:tabLst>
            </a:pPr>
            <a:r>
              <a:rPr lang="en-US" sz="1600" dirty="0"/>
              <a:t>Android Malware Detection Method Combining Multi-Frequency Features and Convolutional Neural Networks," </a:t>
            </a:r>
            <a:r>
              <a:rPr lang="en-US" sz="1600" i="1" dirty="0"/>
              <a:t>IEEE Access</a:t>
            </a:r>
            <a:r>
              <a:rPr lang="en-US" sz="1600" dirty="0"/>
              <a:t>, 2025.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>
                <a:tab pos="10133013" algn="l"/>
              </a:tabLst>
            </a:pPr>
            <a:endParaRPr lang="en-US" sz="1600" dirty="0"/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133013" algn="l"/>
              </a:tabLst>
            </a:pPr>
            <a:r>
              <a:rPr lang="en-US" sz="1600" dirty="0"/>
              <a:t>A Novel Machine Learning Approach for Android Malware Detection Based on the Co-Existence of Features," </a:t>
            </a:r>
            <a:r>
              <a:rPr lang="en-US" sz="1600" i="1" dirty="0"/>
              <a:t>IEEE Access</a:t>
            </a:r>
            <a:r>
              <a:rPr lang="en-US" sz="1600" dirty="0"/>
              <a:t>, 2023.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538E-4B8D-0F08-7C69-1D903C62B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29198"/>
          </a:xfrm>
        </p:spPr>
        <p:txBody>
          <a:bodyPr>
            <a:normAutofit/>
          </a:bodyPr>
          <a:lstStyle/>
          <a:p>
            <a:r>
              <a:rPr lang="en-IN" sz="5000" dirty="0"/>
              <a:t>			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23FDF2-0438-C80D-79E3-DE482D244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7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1360</Words>
  <Application>Microsoft Office PowerPoint</Application>
  <PresentationFormat>Widescreen</PresentationFormat>
  <Paragraphs>188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Times New Roman</vt:lpstr>
      <vt:lpstr>Arial</vt:lpstr>
      <vt:lpstr>Calibri</vt:lpstr>
      <vt:lpstr>Century Gothic</vt:lpstr>
      <vt:lpstr>Office Theme</vt:lpstr>
      <vt:lpstr>Reverse Engineering Based Intelligent Cyber Threat Detection and Analysis Platform</vt:lpstr>
      <vt:lpstr>Abstract</vt:lpstr>
      <vt:lpstr>Objectives</vt:lpstr>
      <vt:lpstr>  Literature Survey    </vt:lpstr>
      <vt:lpstr>Literature Survey</vt:lpstr>
      <vt:lpstr>Literature Survey</vt:lpstr>
      <vt:lpstr>Literature Survey</vt:lpstr>
      <vt:lpstr>Literature Survey</vt:lpstr>
      <vt:lpstr>Problem Statement</vt:lpstr>
      <vt:lpstr>Requirement Specification</vt:lpstr>
      <vt:lpstr>Requirement Specification</vt:lpstr>
      <vt:lpstr>Implementation Details(Modules)</vt:lpstr>
      <vt:lpstr> Implementation Details(Architecture)</vt:lpstr>
      <vt:lpstr>Journal Base Paper selection </vt:lpstr>
      <vt:lpstr> Base References</vt:lpstr>
      <vt:lpstr>  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Police Duty Scheduler</dc:title>
  <dc:creator>Rohith</dc:creator>
  <cp:lastModifiedBy>Srinath B</cp:lastModifiedBy>
  <cp:revision>16</cp:revision>
  <dcterms:created xsi:type="dcterms:W3CDTF">2023-05-18T12:21:03Z</dcterms:created>
  <dcterms:modified xsi:type="dcterms:W3CDTF">2026-09-08T10:09:27Z</dcterms:modified>
</cp:coreProperties>
</file>